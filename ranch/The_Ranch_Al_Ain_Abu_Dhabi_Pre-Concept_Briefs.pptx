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embeddedFontLst>
    <p:embeddedFont>
      <p:font typeface="Fraunces"/>
      <p:regular r:id="rId26"/>
      <p:bold r:id="rId27"/>
      <p:italic r:id="rId28"/>
      <p:boldItalic r:id="rId29"/>
    </p:embeddedFont>
    <p:embeddedFont>
      <p:font typeface="Archivo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AFHAD PROPERTIES   |   CONCEPT DIRECTION   |   FOR BOARD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68680"/>
            <a:ext cx="10765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0A4E50"/>
                </a:solidFill>
                <a:latin typeface="Fraunces"/>
              </a:rPr>
              <a:t>The Ranch</a:t>
            </a:r>
          </a:p>
          <a:p>
            <a:pPr algn="l">
              <a:lnSpc>
                <a:spcPct val="95000"/>
              </a:lnSpc>
            </a:pPr>
            <a:r>
              <a:rPr sz="3700" b="0" i="1">
                <a:solidFill>
                  <a:srgbClr val="3E9CA0"/>
                </a:solidFill>
                <a:latin typeface="Fraunces"/>
              </a:rPr>
              <a:t>Al Ain &amp; Abu Dhabi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974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Two expansion pre-concept briefs. The Sharjah blueprint, taken city by city. Tenure and macro held constant; location, catchment and whitespace re-run from the data; the concept rebuilt to fit what each city cannot buy today.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5394960"/>
            <a:ext cx="10765231" cy="0"/>
          </a:xfrm>
          <a:prstGeom prst="bentConnector3">
            <a:avLst/>
          </a:prstGeom>
          <a:ln w="25400">
            <a:solidFill>
              <a:srgbClr val="0A4E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5504688"/>
            <a:ext cx="25084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60">
                <a:solidFill>
                  <a:srgbClr val="0F6E70"/>
                </a:solidFill>
                <a:latin typeface="Archivo"/>
              </a:rPr>
              <a:t>ORIGIN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742432"/>
            <a:ext cx="25084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C2A27"/>
                </a:solidFill>
                <a:latin typeface="Archivo"/>
              </a:rPr>
              <a:t>The Ranch at Al Rahmaniya, Sharjah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4539" y="5504688"/>
            <a:ext cx="25084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60">
                <a:solidFill>
                  <a:srgbClr val="0F6E70"/>
                </a:solidFill>
                <a:latin typeface="Archivo"/>
              </a:rPr>
              <a:t>TENURE (CONSTANT)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4539" y="5742432"/>
            <a:ext cx="25084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C2A27"/>
                </a:solidFill>
                <a:latin typeface="Archivo"/>
              </a:rPr>
              <a:t>Musataha / usufruct, income 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5504688"/>
            <a:ext cx="25084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60">
                <a:solidFill>
                  <a:srgbClr val="0F6E70"/>
                </a:solidFill>
                <a:latin typeface="Archivo"/>
              </a:rPr>
              <a:t>LEVERS RE-RUN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5742432"/>
            <a:ext cx="25084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C2A27"/>
                </a:solidFill>
                <a:latin typeface="Archivo"/>
              </a:rPr>
              <a:t>Location, Catchment, Whitespace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7155" y="5504688"/>
            <a:ext cx="25084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60">
                <a:solidFill>
                  <a:srgbClr val="0F6E70"/>
                </a:solidFill>
                <a:latin typeface="Archivo"/>
              </a:rPr>
              <a:t>THIS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7155" y="5742432"/>
            <a:ext cx="25084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C2A27"/>
                </a:solidFill>
                <a:latin typeface="Archivo"/>
              </a:rPr>
              <a:t>Al Ain brief, Abu Dhabi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Concept is the output of data,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not an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The same six-step value chain that produced the Sharjah asset. Tenure and macro carry over unchanged. The middle three levers are re-run from each city's own data, and the concept follows.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5656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3E9CA0"/>
                </a:solidFill>
                <a:latin typeface="Fraunces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3813048"/>
            <a:ext cx="1474165" cy="0"/>
          </a:xfrm>
          <a:prstGeom prst="bentConnector3">
            <a:avLst/>
          </a:prstGeom>
          <a:ln w="25400">
            <a:solidFill>
              <a:srgbClr val="0A4E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3904487"/>
            <a:ext cx="15656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4E50"/>
                </a:solidFill>
                <a:latin typeface="Fraunces"/>
              </a:rPr>
              <a:t>Tenure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270248"/>
            <a:ext cx="151988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55D"/>
                </a:solidFill>
                <a:latin typeface="Archivo"/>
              </a:rPr>
              <a:t>Musataha. No terminal value. Income must clear the hurdle inside the lease term.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394960"/>
            <a:ext cx="960120" cy="201168"/>
          </a:xfrm>
          <a:prstGeom prst="roundRect">
            <a:avLst>
              <a:gd name="adj" fmla="val 30000"/>
            </a:avLst>
          </a:prstGeom>
          <a:solidFill>
            <a:srgbClr val="E3D9C9"/>
          </a:solidFill>
          <a:ln>
            <a:noFill/>
          </a:ln>
          <a:effectLst/>
        </p:spPr>
        <p:txBody>
          <a:bodyPr rtlCol="0" anchor="ctr" tIns="0" bIns="0" wrap="none"/>
          <a:lstStyle/>
          <a:p>
            <a:pPr algn="ctr"/>
            <a:r>
              <a:rPr sz="750" b="1" spc="180">
                <a:solidFill>
                  <a:srgbClr val="8A7B63"/>
                </a:solidFill>
                <a:latin typeface="Archivo"/>
              </a:rPr>
              <a:t>CONSTANT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7437" y="3246120"/>
            <a:ext cx="15656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3E9CA0"/>
                </a:solidFill>
                <a:latin typeface="Fraunces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07437" y="3813048"/>
            <a:ext cx="1474165" cy="0"/>
          </a:xfrm>
          <a:prstGeom prst="bentConnector3">
            <a:avLst/>
          </a:prstGeom>
          <a:ln w="25400">
            <a:solidFill>
              <a:srgbClr val="0A4E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07437" y="3904487"/>
            <a:ext cx="15656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4E50"/>
                </a:solidFill>
                <a:latin typeface="Fraunces"/>
              </a:rPr>
              <a:t>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7437" y="4270248"/>
            <a:ext cx="151988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55D"/>
                </a:solidFill>
                <a:latin typeface="Archivo"/>
              </a:rPr>
              <a:t>Community retail under-built across the UAE. Emirati villa catchments insulated from expat 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7437" y="5394960"/>
            <a:ext cx="960120" cy="201168"/>
          </a:xfrm>
          <a:prstGeom prst="roundRect">
            <a:avLst>
              <a:gd name="adj" fmla="val 30000"/>
            </a:avLst>
          </a:prstGeom>
          <a:solidFill>
            <a:srgbClr val="E3D9C9"/>
          </a:solidFill>
          <a:ln>
            <a:noFill/>
          </a:ln>
          <a:effectLst/>
        </p:spPr>
        <p:txBody>
          <a:bodyPr rtlCol="0" anchor="ctr" tIns="0" bIns="0" wrap="none"/>
          <a:lstStyle/>
          <a:p>
            <a:pPr algn="ctr"/>
            <a:r>
              <a:rPr sz="750" b="1" spc="180">
                <a:solidFill>
                  <a:srgbClr val="8A7B63"/>
                </a:solidFill>
                <a:latin typeface="Archivo"/>
              </a:rPr>
              <a:t>CONSTANT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1642" y="3246120"/>
            <a:ext cx="15656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3E9CA0"/>
                </a:solidFill>
                <a:latin typeface="Fraunces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01642" y="3813048"/>
            <a:ext cx="1474165" cy="0"/>
          </a:xfrm>
          <a:prstGeom prst="bentConnector3">
            <a:avLst/>
          </a:prstGeom>
          <a:ln w="25400">
            <a:solidFill>
              <a:srgbClr val="0A4E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01642" y="3904487"/>
            <a:ext cx="15656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4E50"/>
                </a:solidFill>
                <a:latin typeface="Fraunces"/>
              </a:rP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1642" y="4270248"/>
            <a:ext cx="151988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55D"/>
                </a:solidFill>
                <a:latin typeface="Archivo"/>
              </a:rPr>
              <a:t>Re-run per city. Plot logic, frontage and arrival change with the site.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1642" y="5394960"/>
            <a:ext cx="868680" cy="201168"/>
          </a:xfrm>
          <a:prstGeom prst="roundRect">
            <a:avLst>
              <a:gd name="adj" fmla="val 30000"/>
            </a:avLst>
          </a:prstGeom>
          <a:solidFill>
            <a:srgbClr val="0F6E70"/>
          </a:solidFill>
          <a:ln>
            <a:noFill/>
          </a:ln>
          <a:effectLst/>
        </p:spPr>
        <p:txBody>
          <a:bodyPr rtlCol="0" anchor="ctr" tIns="0" bIns="0" wrap="none"/>
          <a:lstStyle/>
          <a:p>
            <a:pPr algn="ctr"/>
            <a:r>
              <a:rPr sz="750" b="1" spc="180">
                <a:solidFill>
                  <a:srgbClr val="FCF9F4"/>
                </a:solidFill>
                <a:latin typeface="Archivo"/>
              </a:rPr>
              <a:t>RE-RUN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246120"/>
            <a:ext cx="15656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3E9CA0"/>
                </a:solidFill>
                <a:latin typeface="Fraunces"/>
              </a:rP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5847" y="3813048"/>
            <a:ext cx="1474165" cy="0"/>
          </a:xfrm>
          <a:prstGeom prst="bentConnector3">
            <a:avLst/>
          </a:prstGeom>
          <a:ln w="25400">
            <a:solidFill>
              <a:srgbClr val="0A4E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5847" y="3904487"/>
            <a:ext cx="15656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4E50"/>
                </a:solidFill>
                <a:latin typeface="Fraunces"/>
              </a:rPr>
              <a:t>Catchment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4270248"/>
            <a:ext cx="151988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55D"/>
                </a:solidFill>
                <a:latin typeface="Archivo"/>
              </a:rPr>
              <a:t>Re-run per city. Who lives within the drive-time ring, and what they cannot buy.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7" y="5394960"/>
            <a:ext cx="868680" cy="201168"/>
          </a:xfrm>
          <a:prstGeom prst="roundRect">
            <a:avLst>
              <a:gd name="adj" fmla="val 30000"/>
            </a:avLst>
          </a:prstGeom>
          <a:solidFill>
            <a:srgbClr val="0F6E70"/>
          </a:solidFill>
          <a:ln>
            <a:noFill/>
          </a:ln>
          <a:effectLst/>
        </p:spPr>
        <p:txBody>
          <a:bodyPr rtlCol="0" anchor="ctr" tIns="0" bIns="0" wrap="none"/>
          <a:lstStyle/>
          <a:p>
            <a:pPr algn="ctr"/>
            <a:r>
              <a:rPr sz="750" b="1" spc="180">
                <a:solidFill>
                  <a:srgbClr val="FCF9F4"/>
                </a:solidFill>
                <a:latin typeface="Archivo"/>
              </a:rPr>
              <a:t>RE-RUN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0052" y="3246120"/>
            <a:ext cx="15656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3E9CA0"/>
                </a:solidFill>
                <a:latin typeface="Fraunces"/>
              </a:rPr>
              <a:t>05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90052" y="3813048"/>
            <a:ext cx="1474166" cy="0"/>
          </a:xfrm>
          <a:prstGeom prst="bentConnector3">
            <a:avLst/>
          </a:prstGeom>
          <a:ln w="25400">
            <a:solidFill>
              <a:srgbClr val="0A4E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90052" y="3904487"/>
            <a:ext cx="15656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4E50"/>
                </a:solidFill>
                <a:latin typeface="Fraunces"/>
              </a:rPr>
              <a:t>Whitespace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0052" y="4270248"/>
            <a:ext cx="151988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55D"/>
                </a:solidFill>
                <a:latin typeface="Archivo"/>
              </a:rPr>
              <a:t>Re-run per city. The verified category gaps that become the tenant spine.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90052" y="5394960"/>
            <a:ext cx="868680" cy="201168"/>
          </a:xfrm>
          <a:prstGeom prst="roundRect">
            <a:avLst>
              <a:gd name="adj" fmla="val 30000"/>
            </a:avLst>
          </a:prstGeom>
          <a:solidFill>
            <a:srgbClr val="0F6E70"/>
          </a:solidFill>
          <a:ln>
            <a:noFill/>
          </a:ln>
          <a:effectLst/>
        </p:spPr>
        <p:txBody>
          <a:bodyPr rtlCol="0" anchor="ctr" tIns="0" bIns="0" wrap="none"/>
          <a:lstStyle/>
          <a:p>
            <a:pPr algn="ctr"/>
            <a:r>
              <a:rPr sz="750" b="1" spc="180">
                <a:solidFill>
                  <a:srgbClr val="FCF9F4"/>
                </a:solidFill>
                <a:latin typeface="Archivo"/>
              </a:rPr>
              <a:t>RE-RUN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4258" y="3246120"/>
            <a:ext cx="15656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3E9CA0"/>
                </a:solidFill>
                <a:latin typeface="Fraunces"/>
              </a:rPr>
              <a:t>06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84258" y="3813048"/>
            <a:ext cx="1474165" cy="0"/>
          </a:xfrm>
          <a:prstGeom prst="bentConnector3">
            <a:avLst/>
          </a:prstGeom>
          <a:ln w="25400">
            <a:solidFill>
              <a:srgbClr val="0A4E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684258" y="3904487"/>
            <a:ext cx="15656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4E50"/>
                </a:solidFill>
                <a:latin typeface="Fraunces"/>
              </a:rPr>
              <a:t>Concept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4258" y="4270248"/>
            <a:ext cx="151988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55D"/>
                </a:solidFill>
                <a:latin typeface="Archivo"/>
              </a:rPr>
              <a:t>The output, not the input. Rebuilt tenant mix on the same industrial typology.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4258" y="5394960"/>
            <a:ext cx="868680" cy="201168"/>
          </a:xfrm>
          <a:prstGeom prst="roundRect">
            <a:avLst>
              <a:gd name="adj" fmla="val 30000"/>
            </a:avLst>
          </a:prstGeom>
          <a:solidFill>
            <a:srgbClr val="0F6E70"/>
          </a:solidFill>
          <a:ln>
            <a:noFill/>
          </a:ln>
          <a:effectLst/>
        </p:spPr>
        <p:txBody>
          <a:bodyPr rtlCol="0" anchor="ctr" tIns="0" bIns="0" wrap="none"/>
          <a:lstStyle/>
          <a:p>
            <a:pPr algn="ctr"/>
            <a:r>
              <a:rPr sz="750" b="1" spc="180">
                <a:solidFill>
                  <a:srgbClr val="FCF9F4"/>
                </a:solidFill>
                <a:latin typeface="Archivo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 spc="150">
                <a:solidFill>
                  <a:srgbClr val="7FC9CB"/>
                </a:solidFill>
                <a:latin typeface="Fraunces"/>
              </a:rPr>
              <a:t>Brief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7FC9CB"/>
                </a:solidFill>
                <a:latin typeface="Archivo"/>
              </a:rPr>
              <a:t>THE GARDEN CITY  ·  EMIRATI HEARTLAND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97480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FCF9F4"/>
                </a:solidFill>
                <a:latin typeface="Fraunces"/>
              </a:rPr>
              <a:t>The Ranch</a:t>
            </a:r>
          </a:p>
          <a:p>
            <a:pPr algn="l">
              <a:lnSpc>
                <a:spcPct val="95000"/>
              </a:lnSpc>
            </a:pPr>
            <a:r>
              <a:rPr sz="3700" b="0" i="1">
                <a:solidFill>
                  <a:srgbClr val="7FC9CB"/>
                </a:solidFill>
                <a:latin typeface="Fraunces"/>
              </a:rPr>
              <a:t>at Al 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3434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FE3E3"/>
                </a:solidFill>
                <a:latin typeface="Archivo"/>
              </a:rPr>
              <a:t>A fine-dining market hall and a world-class wellness hangar for the UAE's most concentrated Emirati villa city. The mandate is set; the data confirms why it 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FA9AB"/>
                </a:solidFill>
                <a:latin typeface="Archivo"/>
              </a:rPr>
              <a:t>AFHAD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2E6E70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FA9AB"/>
                </a:solidFill>
                <a:latin typeface="Archiv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3 · LOCATION &amp; CATCHMENT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An affluent Emirati villa city,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under-retailed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Al Ain is the Emirati heartland of Abu Dhabi emirate: a family, villa-dominant, owner-occupier market held below global retail density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24627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AL AIN REGION 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9272"/>
            <a:ext cx="24627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987K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95928"/>
            <a:ext cx="24627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SCAD 2024, +4.4% year on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4539" y="3063240"/>
            <a:ext cx="24627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UAE NATIONAL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4539" y="3319272"/>
            <a:ext cx="24627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~31%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4539" y="3995928"/>
            <a:ext cx="24627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highest of any major UAE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3063240"/>
            <a:ext cx="24627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AVERAGE VILLA 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3319272"/>
            <a:ext cx="24627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4.9M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995928"/>
            <a:ext cx="24627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AED, Bayut 2025 listings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155" y="3063240"/>
            <a:ext cx="24627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RETAIL PER RESIDENT,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155" y="3319272"/>
            <a:ext cx="24627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155" y="3995928"/>
            <a:ext cx="24627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sqm, Plan Al Ain 2030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52628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Owner-occupier Emirati wealth.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773168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Villa households across Al Towayya, Asharej, Falaj Hazzaa and Al Jimi. End-user demand, low speculative volatility.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52628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A committed villa pipeline.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4773168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10,316 villas across five developments inside the AED 106bn Abu Dhabi housing programme, Aldar's Al Oyoun Village among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48640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A fast-growing tourism spine.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733288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473,100 hotel guests in FY2025, up 9%. DCT positions Al Ain on culture, wellness and adventure.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548640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Enclosed malls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5733288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Roughly seven hypermarket-anchored malls, repetitive anchors, no open-air lifestyle destination.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053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9C8E7A"/>
                </a:solidFill>
                <a:latin typeface="Archivo"/>
              </a:rPr>
              <a:t>Sources: SCAD 2024; Bayut 2025; Plan Al Ain 2030 / Aldar 2016; Abu Dhabi Media Office &amp; DCT 2025; Arabian Post 2026. Villa pricing is asking, not registered transactions.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4 · THE MANDATE,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Fine dining and a world-class gym,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confirmed by the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The mandate set fine dining and a world-class fitness anchor. Targeted verification holds it up: the fine-dining whitespace is acute, the premium-gym lane real but contested, sharpening the brief toward integrated wellness.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3359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FINE-DINING VENUES IN AL 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9272"/>
            <a:ext cx="335981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95928"/>
            <a:ext cx="3359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vs 56 in Abu Dhabi city, 100+ in Dubai (MICHELIN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1642" y="3063240"/>
            <a:ext cx="3359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PREMIUM LARGE-FORMAT GYMS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3319272"/>
            <a:ext cx="335981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3995928"/>
            <a:ext cx="3359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one credible incumbent at scale; rest value or hotel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0052" y="3063240"/>
            <a:ext cx="3359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INTEGRATED WELLNESS + LONGEVITY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0052" y="3319272"/>
            <a:ext cx="335981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0052" y="3995928"/>
            <a:ext cx="3359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no operator combines training, recovery, longevity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3484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Fine dining: an acute, leaking gap.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81727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The upper tier is four to five ageing hotel restaurants. Affluent residents drive to Abu Dhabi and Dubai. Note: licensed dining sits in hotels, so the model favours a hotel partnership or destination format.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43484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Gym: win on integration, not a box.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4681727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A single large-format incumbent holds the pure-fitness lane. The open ground is the integrated facility: premium training plus recovery, longevity and boutique studios, where no incumbent exists.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053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9C8E7A"/>
                </a:solidFill>
                <a:latin typeface="Archivo"/>
              </a:rPr>
              <a:t>Sources: MICHELIN Guide 2026; Gold's Gym UAE 2026; GymNation 2026; operator triangulation (Rotana, Danat, Radisson, Mercure) 2025 to 2026. Venue counts are triangulated estimates.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5 · WHITESPACE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Where supply ends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and demand begins.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Each category scored on Al Ain supply against assessed catchment demand. The primary gaps form the spine of the tenant programme.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971800"/>
          <a:ext cx="10698480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143000"/>
                <a:gridCol w="960120"/>
                <a:gridCol w="1234440"/>
                <a:gridCol w="42519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CATEGORY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SUPPLY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DEMAND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NOTE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Destination fine dining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ABSENT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CF9F4"/>
                          </a:solidFill>
                          <a:latin typeface="Archivo"/>
                        </a:rPr>
                        <a:t>PRIMARY</a:t>
                      </a:r>
                    </a:p>
                  </a:txBody>
                  <a:tcPr marL="73152" marR="45720" marT="27432" marB="27432" anchor="ctr">
                    <a:solidFill>
                      <a:srgbClr val="0F6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Zero standalone venues; demand leaks to Abu Dhabi and Dubai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Integrated wellness + longevity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ABSENT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CF9F4"/>
                          </a:solidFill>
                          <a:latin typeface="Archivo"/>
                        </a:rPr>
                        <a:t>PRIMARY</a:t>
                      </a:r>
                    </a:p>
                  </a:txBody>
                  <a:tcPr marL="73152" marR="45720" marT="27432" marB="27432" anchor="ctr">
                    <a:solidFill>
                      <a:srgbClr val="0F6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Recovery and longevity exist only as fragmented clinics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World-class gym (large format)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THIN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CF9F4"/>
                          </a:solidFill>
                          <a:latin typeface="Archivo"/>
                        </a:rPr>
                        <a:t>PRIMARY</a:t>
                      </a:r>
                    </a:p>
                  </a:txBody>
                  <a:tcPr marL="73152" marR="45720" marT="27432" marB="27432" anchor="ctr">
                    <a:solidFill>
                      <a:srgbClr val="0F6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One incumbent; differentiate via integration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Open-air lifestyle retail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ABSENT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CF9F4"/>
                          </a:solidFill>
                          <a:latin typeface="Archivo"/>
                        </a:rPr>
                        <a:t>PRIMARY</a:t>
                      </a:r>
                    </a:p>
                  </a:txBody>
                  <a:tcPr marL="73152" marR="45720" marT="27432" marB="27432" anchor="ctr">
                    <a:solidFill>
                      <a:srgbClr val="0F6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No operating open-air village; one hybrid in build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Specialty &amp; artisan grocer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THIN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MED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F6E70"/>
                          </a:solidFill>
                          <a:latin typeface="Archivo"/>
                        </a:rPr>
                        <a:t>SECONDARY</a:t>
                      </a:r>
                    </a:p>
                  </a:txBody>
                  <a:tcPr marL="73152" marR="45720" marT="27432" marB="27432" anchor="ctr">
                    <a:solidFill>
                      <a:srgbClr val="D9E4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Anchors are mass hypermarkets, Carrefour and LuLu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Children's enrichment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THIN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MED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F6E70"/>
                          </a:solidFill>
                          <a:latin typeface="Archivo"/>
                        </a:rPr>
                        <a:t>SECONDARY</a:t>
                      </a:r>
                    </a:p>
                  </a:txBody>
                  <a:tcPr marL="73152" marR="45720" marT="27432" marB="27432" anchor="ctr">
                    <a:solidFill>
                      <a:srgbClr val="D9E4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Young, family-weighted, high-National catchment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Hypermarket, fashion, perfumes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SATURATED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-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9A6B53"/>
                          </a:solidFill>
                          <a:latin typeface="Archivo"/>
                        </a:rPr>
                        <a:t>AVOID</a:t>
                      </a:r>
                    </a:p>
                  </a:txBody>
                  <a:tcPr marL="73152" marR="45720" marT="27432" marB="27432" anchor="ctr">
                    <a:solidFill>
                      <a:srgbClr val="E8DC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Replicated across seven enclosed malls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5 · THE WHITESPACES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Five categories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Al Ain cannot buy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The primary and supporting whitespaces, drawn from the category map. These are the spine of the proposed tenant mix.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Destination fine dining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standalone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Chef-driven, licensed via hotel partnership. The category the catchment leaves the city to buy.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9196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9196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8068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8068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Gym &amp; wellness hangar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8068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1,500+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8068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target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8068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World-class training fused with recovery and longevity. Integration is the moat, not square metres.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5161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5161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4033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4033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Longevity &amp;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4033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None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4033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integrated 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4033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Cryotherapy, contrast, IV and diagnostics under one roof. Fragmented clinics only.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1125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71125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9997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9997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Specialty grocer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9997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Daily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9997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repeat trips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9997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Fresh-focused artisan format. The base-load engine away from mass hypermarket anchors.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7090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7090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5962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5962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Open-air lifestyle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5962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First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5962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mover 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5962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A true open-air village, experience-led, differentiated from the one hybrid now in build.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053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9C8E7A"/>
                </a:solidFill>
                <a:latin typeface="Archivo"/>
              </a:rPr>
              <a:t>Children's enrichment and a multi-specialty clinic sit alongside as complementary secondary whitespaces.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6 ·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The Ranch at Al Ain,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built on three pillars.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Not a mall, not a hypermarket extension. A fine-dining market hall paired with a world-class wellness hangar, on the same industrial-village typology.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8A7B63"/>
                </a:solidFill>
                <a:latin typeface="Archivo"/>
              </a:rPr>
              <a:t>01 / PILLAR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37560"/>
            <a:ext cx="3268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A4E50"/>
                </a:solidFill>
                <a:latin typeface="Fraunces"/>
              </a:rPr>
              <a:t>Fine-dining market hall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04488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WEEKLY DIFFERENTIATOR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206240"/>
            <a:ext cx="32226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Ten to fifteen curated chef-driven operators anchor the hall as a regional weekend destination.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Operable glazing to shaded terraces for year-round dining.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Licensed dining via hotel partnership; the rest reads as a premium destination.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3063240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8A7B63"/>
                </a:solidFill>
                <a:latin typeface="Archivo"/>
              </a:rPr>
              <a:t>02 / PILLAR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3337560"/>
            <a:ext cx="3268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A4E50"/>
                </a:solidFill>
                <a:latin typeface="Fraunces"/>
              </a:rPr>
              <a:t>Gym, wellness &amp; longevity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1642" y="3904488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FOOTFALL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1642" y="4206240"/>
            <a:ext cx="32226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A world-class steel-portal hangar: 1,500-plus members, daylit training floors.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Structured recovery, longevity diagnostics and boutique studios under one roof.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The integration no incumbent offers, driving cross-visits to F&amp;B.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0052" y="3063240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8A7B63"/>
                </a:solidFill>
                <a:latin typeface="Archivo"/>
              </a:rPr>
              <a:t>03 / PILLAR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0052" y="3337560"/>
            <a:ext cx="3268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A4E50"/>
                </a:solidFill>
                <a:latin typeface="Fraunces"/>
              </a:rPr>
              <a:t>Daily lifestyle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0052" y="3904488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BASE-LOAD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0052" y="4206240"/>
            <a:ext cx="32226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Specialty artisan grocer, clinic, pharmacy and service kiosks for daily trips.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An open-air village format the city does not yet have.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Cross-subsidises the fine-dining anchor through ramp-up.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6 · THE PARTI &amp; BUILD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One shell,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the mix is the lever.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Gym hangar tilted west, fine-dining hall on axis, specialty grocer tilted east, with gallery seams between. The envelope is held constant and cheap; the tenant mix does the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788920"/>
            <a:ext cx="10765231" cy="23317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" y="2953512"/>
            <a:ext cx="10490911" cy="292608"/>
          </a:xfrm>
          <a:prstGeom prst="rect">
            <a:avLst/>
          </a:prstGeom>
          <a:solidFill>
            <a:srgbClr val="E7DD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1076523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 spc="200">
                <a:solidFill>
                  <a:srgbClr val="8A7B63"/>
                </a:solidFill>
                <a:latin typeface="Archivo"/>
              </a:rPr>
              <a:t>PARKING &amp; LANDSCAPE RIBBON · NORTH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" y="4663440"/>
            <a:ext cx="10490911" cy="292608"/>
          </a:xfrm>
          <a:prstGeom prst="rect">
            <a:avLst/>
          </a:prstGeom>
          <a:solidFill>
            <a:srgbClr val="E7DD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81727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00">
                <a:solidFill>
                  <a:srgbClr val="8A7B63"/>
                </a:solidFill>
                <a:latin typeface="Archivo"/>
              </a:rPr>
              <a:t>CONSOLIDATED PARKING · PRIMARY ARRIVAL · SOUTH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3447287"/>
            <a:ext cx="2126281" cy="1051560"/>
          </a:xfrm>
          <a:prstGeom prst="roundRect">
            <a:avLst>
              <a:gd name="adj" fmla="val 18000"/>
            </a:avLst>
          </a:prstGeom>
          <a:solidFill>
            <a:srgbClr val="0F6E70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739896"/>
            <a:ext cx="2126281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CF9F4"/>
                </a:solidFill>
                <a:latin typeface="Fraunces"/>
              </a:rPr>
              <a:t>GYM &amp; WELLNESS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steel portal hangar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1431" y="3447287"/>
            <a:ext cx="759386" cy="1051560"/>
          </a:xfrm>
          <a:prstGeom prst="roundRect">
            <a:avLst>
              <a:gd name="adj" fmla="val 18000"/>
            </a:avLst>
          </a:prstGeom>
          <a:solidFill>
            <a:srgbClr val="D8A24A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1431" y="3739896"/>
            <a:ext cx="75938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CF9F4"/>
                </a:solidFill>
                <a:latin typeface="Fraunces"/>
              </a:rPr>
              <a:t>GALLERY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seam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2694" y="3447287"/>
            <a:ext cx="2733790" cy="1051560"/>
          </a:xfrm>
          <a:prstGeom prst="roundRect">
            <a:avLst>
              <a:gd name="adj" fmla="val 18000"/>
            </a:avLst>
          </a:prstGeom>
          <a:solidFill>
            <a:srgbClr val="B5654A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2694" y="3739896"/>
            <a:ext cx="2733790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CF9F4"/>
                </a:solidFill>
                <a:latin typeface="Fraunces"/>
              </a:rPr>
              <a:t>FINE-DINING HALL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destination anchor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8988" y="3447287"/>
            <a:ext cx="759386" cy="1051560"/>
          </a:xfrm>
          <a:prstGeom prst="roundRect">
            <a:avLst>
              <a:gd name="adj" fmla="val 18000"/>
            </a:avLst>
          </a:prstGeom>
          <a:solidFill>
            <a:srgbClr val="D8A24A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8988" y="3739896"/>
            <a:ext cx="75938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CF9F4"/>
                </a:solidFill>
                <a:latin typeface="Fraunces"/>
              </a:rPr>
              <a:t>GALLERY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seam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0877" y="3447287"/>
            <a:ext cx="2126281" cy="1051560"/>
          </a:xfrm>
          <a:prstGeom prst="roundRect">
            <a:avLst>
              <a:gd name="adj" fmla="val 18000"/>
            </a:avLst>
          </a:prstGeom>
          <a:solidFill>
            <a:srgbClr val="C2703D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0877" y="3739896"/>
            <a:ext cx="2126281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CF9F4"/>
                </a:solidFill>
                <a:latin typeface="Fraunces"/>
              </a:rPr>
              <a:t>SPECIALTY GROCER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fresh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285231"/>
            <a:ext cx="6035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SHELL · CONSTANT, INCOME-OPTIMISED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532119"/>
            <a:ext cx="5029200" cy="292608"/>
          </a:xfrm>
          <a:prstGeom prst="rect">
            <a:avLst/>
          </a:prstGeom>
          <a:solidFill>
            <a:srgbClr val="0A4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42432" y="5532119"/>
            <a:ext cx="960120" cy="292608"/>
          </a:xfrm>
          <a:prstGeom prst="rect">
            <a:avLst/>
          </a:prstGeom>
          <a:solidFill>
            <a:srgbClr val="9C8E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559551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 spc="150">
                <a:solidFill>
                  <a:srgbClr val="FCF9F4"/>
                </a:solidFill>
                <a:latin typeface="Archivo"/>
              </a:rPr>
              <a:t>STEEL-LED SHELL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5559551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 spc="100">
                <a:solidFill>
                  <a:srgbClr val="FCF9F4"/>
                </a:solidFill>
                <a:latin typeface="Archivo"/>
              </a:rPr>
              <a:t>FIT-OUT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88736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655D"/>
                </a:solidFill>
                <a:latin typeface="Archivo"/>
              </a:rPr>
              <a:t>Identical to Sharjah: steel portal frame, lightweight envelope, slab on grade, build matched to the usufruct. Income clears the hurdle, so no masonry premium is chased.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5285231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THE ONLY TILT · MINOR, TENANT-LED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5532119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655D"/>
                </a:solidFill>
                <a:latin typeface="Archivo"/>
              </a:rPr>
              <a:t>Fit-out concentrates where rent pays for it: the fine-dining hall. Wellness directs spend to MEP, not finishes. The lever is tenant selection, not structure.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 spc="150">
                <a:solidFill>
                  <a:srgbClr val="7FC9CB"/>
                </a:solidFill>
                <a:latin typeface="Fraunces"/>
              </a:rPr>
              <a:t>Brief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7FC9CB"/>
                </a:solidFill>
                <a:latin typeface="Archivo"/>
              </a:rPr>
              <a:t>THE CAPITAL  ·  OPEN-BOOK WHITESPACE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97480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FCF9F4"/>
                </a:solidFill>
                <a:latin typeface="Fraunces"/>
              </a:rPr>
              <a:t>The Ranch</a:t>
            </a:r>
          </a:p>
          <a:p>
            <a:pPr algn="l">
              <a:lnSpc>
                <a:spcPct val="95000"/>
              </a:lnSpc>
            </a:pPr>
            <a:r>
              <a:rPr sz="3700" b="0" i="1">
                <a:solidFill>
                  <a:srgbClr val="7FC9CB"/>
                </a:solidFill>
                <a:latin typeface="Fraunces"/>
              </a:rPr>
              <a:t>at Abu Dhabi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3434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FE3E3"/>
                </a:solidFill>
                <a:latin typeface="Archivo"/>
              </a:rPr>
              <a:t>Not a replica of the Sharjah formula. A data-led whitespace search points the capital to a premium social, wellness and food destination for its affluent residents, wealth-migration cohort and cultural footfall.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FA9AB"/>
                </a:solidFill>
                <a:latin typeface="Archivo"/>
              </a:rPr>
              <a:t>AFHAD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2E6E70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FA9AB"/>
                </a:solidFill>
                <a:latin typeface="Archiv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3 · LOCATION &amp; CATCHMENT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A capital catchment,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not a commuter suburb.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Abu Dhabi is not Sharjah. The defining catchment is the wealth and culture spine of Saadiyat, Al Maryah and Al Reem: affluent residents, the ADGM professional base, and a record stream of relocating capital and visitors.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24627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EMIRATE 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9272"/>
            <a:ext cx="24627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4.1M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95928"/>
            <a:ext cx="24627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SCAD 2024, +7.5%, +51% over the decade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4539" y="3063240"/>
            <a:ext cx="24627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ADGM WORKFORCE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4539" y="3319272"/>
            <a:ext cx="24627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+51%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4539" y="3995928"/>
            <a:ext cx="24627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to 44,339; institutions +135% since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3063240"/>
            <a:ext cx="24627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MILLIONAIRE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3319272"/>
            <a:ext cx="24627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No.1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995928"/>
            <a:ext cx="24627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UAE leads the world, ~9,800 in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155" y="3063240"/>
            <a:ext cx="24627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VISITORS,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155" y="3319272"/>
            <a:ext cx="24627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26.6M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155" y="3995928"/>
            <a:ext cx="24627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record; DCT targets 39.3m by 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52628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Wealth is arriving, and concentrating.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773168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The UAE ranks first for millionaire migration; ADGM's workforce is up 51% to 44,339. This cohort has no home base in the capital.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52628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A cultural district now fully live.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4773168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Louvre drew 1.4m visitors in 2025; Zayed National and Natural History museums opened late 2025; Guggenheim follows in 2026. Cultural footfall hit 8.6m.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48640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A tight, space-starved market.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733288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Prime retail near 95% occupancy, Grade A office vacancy below 1.5%, rents climbing. Quality lifestyle space is scarce.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548640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The location lever moves.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5733288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Where Sharjah was a single villa ring, the capital concept addresses a destination catchment on the islands.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053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9C8E7A"/>
                </a:solidFill>
                <a:latin typeface="Archivo"/>
              </a:rPr>
              <a:t>Sources: SCAD 2024; ADGM 2026; Henley &amp; Partners 2025; DCT Abu Dhabi 2025 Annual Report; Louvre Abu Dhabi 2025; CBRE / JLL Q3 to Q4 2025. Some figures are UAE-level and flagged.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4 ·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Why the capital needs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a different anchor.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Copying the Sharjah mix of supermarket, gym and generic F&amp;B would add undifferentiated stock to a space-starved market. The capital's own gaps point to social, wellness and food.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3359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MEMBERS' CLUBS IN THE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9272"/>
            <a:ext cx="335981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95928"/>
            <a:ext cx="3359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no Soho House in the UAE; ecosystem in Dubai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1642" y="3063240"/>
            <a:ext cx="3359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CURATED FOOD HALLS OPERATING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3319272"/>
            <a:ext cx="335981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3995928"/>
            <a:ext cx="3359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Time Out Abu Dhabi unbuilt; Dubai runs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0052" y="3063240"/>
            <a:ext cx="3359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40">
                <a:solidFill>
                  <a:srgbClr val="0F6E70"/>
                </a:solidFill>
                <a:latin typeface="Archivo"/>
              </a:rPr>
              <a:t>LONGEVITY CLINICS LICENSED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0052" y="3319272"/>
            <a:ext cx="335981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A4E50"/>
                </a:solidFill>
                <a:latin typeface="Fraunces"/>
              </a:rPr>
              <a:t>~2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0052" y="3995928"/>
            <a:ext cx="3359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55D"/>
                </a:solidFill>
                <a:latin typeface="Fraunces"/>
              </a:rPr>
              <a:t>world-first DoH licence category, Oct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3484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The social and food gaps are stark.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81727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No members' or creative club in the capital and no operating curated food hall, while Dubai runs a deep stack of both. For a city leading global wealth migration, the clearest whitespace.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43484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4E50"/>
                </a:solidFill>
                <a:latin typeface="Fraunces"/>
              </a:rPr>
              <a:t>The state has placed its wellness bet.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4681727"/>
            <a:ext cx="5016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55D"/>
                </a:solidFill>
                <a:latin typeface="Archivo"/>
              </a:rPr>
              <a:t>The DoH created the world's first Healthy Longevity Medicine Centre licence; M42 runs the largest omics centre outside the US on an 800,000-genome programme. Preventative wellness is policy.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053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9C8E7A"/>
                </a:solidFill>
                <a:latin typeface="Archivo"/>
              </a:rPr>
              <a:t>Sources: FACT Magazine 2026; Time Out 2026; The National 2021 to 2026; DoH 2024 to 2025; M42 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5 · WHITESPACE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What the capital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cannot buy locally.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An open-book scan across social, food, wellness, sport and culture. The verdicts redraw the anchor away from the Sharjah template.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971800"/>
          <a:ext cx="10698480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46120"/>
                <a:gridCol w="1051560"/>
                <a:gridCol w="914400"/>
                <a:gridCol w="1188720"/>
                <a:gridCol w="4297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CATEGORY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SUPPLY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DEMAND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NOTE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Members' &amp; creative social club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ABSENT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CF9F4"/>
                          </a:solidFill>
                          <a:latin typeface="Archivo"/>
                        </a:rPr>
                        <a:t>PRIMARY</a:t>
                      </a:r>
                    </a:p>
                  </a:txBody>
                  <a:tcPr marL="73152" marR="45720" marT="27432" marB="27432" anchor="ctr">
                    <a:solidFill>
                      <a:srgbClr val="0F6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No club in the capital; ADGM cohort up 51%, wealth inflow No.1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Curated food hall &amp; artisan market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ABSENT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CF9F4"/>
                          </a:solidFill>
                          <a:latin typeface="Archivo"/>
                        </a:rPr>
                        <a:t>PRIMARY</a:t>
                      </a:r>
                    </a:p>
                  </a:txBody>
                  <a:tcPr marL="73152" marR="45720" marT="27432" marB="27432" anchor="ctr">
                    <a:solidFill>
                      <a:srgbClr val="0F6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Time Out Abu Dhabi unbuilt; Dubai runs three live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Longevity &amp; preventative wellness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THIN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CF9F4"/>
                          </a:solidFill>
                          <a:latin typeface="Archivo"/>
                        </a:rPr>
                        <a:t>PRIMARY</a:t>
                      </a:r>
                    </a:p>
                  </a:txBody>
                  <a:tcPr marL="73152" marR="45720" marT="27432" marB="27432" anchor="ctr">
                    <a:solidFill>
                      <a:srgbClr val="0F6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World-first licence; only ~2 facilities; cluster in Dubai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Arts-led experiential F&amp;B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THIN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CF9F4"/>
                          </a:solidFill>
                          <a:latin typeface="Archivo"/>
                        </a:rPr>
                        <a:t>PRIMARY</a:t>
                      </a:r>
                    </a:p>
                  </a:txBody>
                  <a:tcPr marL="73152" marR="45720" marT="27432" marB="27432" anchor="ctr">
                    <a:solidFill>
                      <a:srgbClr val="0F6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Saadiyat anchors now live; on-site retail still thin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Boutique fitness &amp; recovery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THIN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HIGH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F6E70"/>
                          </a:solidFill>
                          <a:latin typeface="Archivo"/>
                        </a:rPr>
                        <a:t>SECONDARY</a:t>
                      </a:r>
                    </a:p>
                  </a:txBody>
                  <a:tcPr marL="73152" marR="45720" marT="27432" marB="27432" anchor="ctr">
                    <a:solidFill>
                      <a:srgbClr val="D9E4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No category leader; activity participation at 60%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Specialist family health, STEAM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THIN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MED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F6E70"/>
                          </a:solidFill>
                          <a:latin typeface="Archivo"/>
                        </a:rPr>
                        <a:t>SECONDARY</a:t>
                      </a:r>
                    </a:p>
                  </a:txBody>
                  <a:tcPr marL="73152" marR="45720" marT="27432" marB="27432" anchor="ctr">
                    <a:solidFill>
                      <a:srgbClr val="D9E4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Real gaps; better suited to a community-corridor site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Core IVF, big-box gym, attractions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SATURATED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-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9A6B53"/>
                          </a:solidFill>
                          <a:latin typeface="Archivo"/>
                        </a:rPr>
                        <a:t>AVOID</a:t>
                      </a:r>
                    </a:p>
                  </a:txBody>
                  <a:tcPr marL="73152" marR="45720" marT="27432" marB="27432" anchor="ctr">
                    <a:solidFill>
                      <a:srgbClr val="E8DC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Sovereign and Miral incumbents already at scale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5 · THE WHITESPACES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Five categories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that fit the capital, not the template.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The redrawn spine: social, food and wellness lead, riding the capital's wealth inflow and cultural halo, with fitness and convenience as the base 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Members' &amp; creative club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in the capital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A members' and family-office house with workspace, dining and programming for the ADGM and wealth cohort.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9196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9196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8068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8068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Curated food hall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8068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8068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operating, vs 3 in Dubai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8068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A destination market hall of curated chef-driven operators. The capital's clearest food whitespace.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5161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5161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4033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4033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Longevity &amp; wellness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4033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~2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4033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clinics in the 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4033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Preventative, diagnostic, longevity-led care. A world-first licence with the cluster still in Dubai.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1125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71125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9997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9997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Arts-led F&amp;B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9997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8.6M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9997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cultural visits,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9997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Experiential, culturally-themed dining and retail riding the now-live Saadiyat museum district.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7090" y="3063240"/>
            <a:ext cx="2021372" cy="27889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7090" y="3063240"/>
            <a:ext cx="2021372" cy="45720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5962" y="3191256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E9CA0"/>
                </a:solidFill>
                <a:latin typeface="Fraunce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5962" y="3520440"/>
            <a:ext cx="17836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A4E50"/>
                </a:solidFill>
                <a:latin typeface="Fraunces"/>
              </a:rPr>
              <a:t>Boutique fitness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5962" y="41148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50"/>
                </a:solidFill>
                <a:latin typeface="Fraunces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5962" y="4544568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655D"/>
                </a:solidFill>
                <a:latin typeface="Fraunces"/>
              </a:rPr>
              <a:t>category leader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5962" y="4846320"/>
            <a:ext cx="17836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C2A27"/>
                </a:solidFill>
                <a:latin typeface="Archivo"/>
              </a:rPr>
              <a:t>Reformer, strength and structured recovery studios riding a steep activity curve.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053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9C8E7A"/>
                </a:solidFill>
                <a:latin typeface="Archivo"/>
              </a:rPr>
              <a:t>Specialist family health and STEAM are strong capital-wide gaps better matched to a community-corridor site such as Al Shamkha, carried as the alternative-site option.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6 ·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The Ranch at Abu Dhabi,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a social and wellness house.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The same industrial-village typology, re-anchored for the capital. A members' club and food hall generate the destination draw; longevity and fitness generate the footfall; curated convenience carries the base 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8A7B63"/>
                </a:solidFill>
                <a:latin typeface="Archivo"/>
              </a:rPr>
              <a:t>01 / PILLAR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37560"/>
            <a:ext cx="3268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A4E50"/>
                </a:solidFill>
                <a:latin typeface="Fraunces"/>
              </a:rPr>
              <a:t>Social &amp; food destination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904488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WEEKLY DIFFERENTIATOR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206240"/>
            <a:ext cx="32226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A members' and creative club paired with a curated, chef-driven food hall.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Programming, dining and family-office lounge for the ADGM and wealth cohort.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Two categories the capital cannot buy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3063240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8A7B63"/>
                </a:solidFill>
                <a:latin typeface="Archivo"/>
              </a:rPr>
              <a:t>02 / PILLAR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3337560"/>
            <a:ext cx="3268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A4E50"/>
                </a:solidFill>
                <a:latin typeface="Fraunces"/>
              </a:rPr>
              <a:t>Wellness &amp; longevity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1642" y="3904488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FOOTFALL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1642" y="4206240"/>
            <a:ext cx="32226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A preventative and longevity pavilion aligned to the world-first DoH licence.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Boutique fitness, reformer and structured recovery.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The wellness draw the affluent base now leaves the city to find.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0052" y="3063240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8A7B63"/>
                </a:solidFill>
                <a:latin typeface="Archivo"/>
              </a:rPr>
              <a:t>03 / PILLAR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0052" y="3337560"/>
            <a:ext cx="3268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900" b="1" i="0">
                <a:solidFill>
                  <a:srgbClr val="0A4E50"/>
                </a:solidFill>
                <a:latin typeface="Fraunces"/>
              </a:rPr>
              <a:t>Curated daily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0052" y="3904488"/>
            <a:ext cx="33140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BASE-LOAD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0052" y="4206240"/>
            <a:ext cx="32226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Specialty grocer, arts-led cafes and service kiosks for daily trips.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Indoor racquet and movement courts as cross-visit amenity.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6B655D"/>
                </a:solidFill>
                <a:latin typeface="Archivo"/>
              </a:rPr>
              <a:t>•  Cross-subsidises the club and wellness anchors through ramp-up.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6 · THE PARTI &amp; BUILD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One shell,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the mix is the lever.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Wellness and fitness tilted west, the curated food hall on axis, the members' club tilted east, with gallery seams between. Same constant envelope as Al Ain; the tenant mix does the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788920"/>
            <a:ext cx="10765231" cy="2331720"/>
          </a:xfrm>
          <a:prstGeom prst="rect">
            <a:avLst/>
          </a:prstGeom>
          <a:solidFill>
            <a:srgbClr val="FCF9F4"/>
          </a:solidFill>
          <a:ln w="9525">
            <a:solidFill>
              <a:srgbClr val="C9B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" y="2953512"/>
            <a:ext cx="10490911" cy="292608"/>
          </a:xfrm>
          <a:prstGeom prst="rect">
            <a:avLst/>
          </a:prstGeom>
          <a:solidFill>
            <a:srgbClr val="E7DD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1076523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 spc="200">
                <a:solidFill>
                  <a:srgbClr val="8A7B63"/>
                </a:solidFill>
                <a:latin typeface="Archivo"/>
              </a:rPr>
              <a:t>ARRIVAL &amp; LANDSCAPE FORECOURT · NORTH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" y="4663440"/>
            <a:ext cx="10490911" cy="292608"/>
          </a:xfrm>
          <a:prstGeom prst="rect">
            <a:avLst/>
          </a:prstGeom>
          <a:solidFill>
            <a:srgbClr val="E7DD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81727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00">
                <a:solidFill>
                  <a:srgbClr val="8A7B63"/>
                </a:solidFill>
                <a:latin typeface="Archivo"/>
              </a:rPr>
              <a:t>CONSOLIDATED PARKING · PRIMARY ARRIVAL · SOUTH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3447287"/>
            <a:ext cx="2126281" cy="1051560"/>
          </a:xfrm>
          <a:prstGeom prst="roundRect">
            <a:avLst>
              <a:gd name="adj" fmla="val 18000"/>
            </a:avLst>
          </a:prstGeom>
          <a:solidFill>
            <a:srgbClr val="0F6E70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739896"/>
            <a:ext cx="2126281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CF9F4"/>
                </a:solidFill>
                <a:latin typeface="Fraunces"/>
              </a:rPr>
              <a:t>GYM &amp; WELLNESS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wellness pavilion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1431" y="3447287"/>
            <a:ext cx="759386" cy="1051560"/>
          </a:xfrm>
          <a:prstGeom prst="roundRect">
            <a:avLst>
              <a:gd name="adj" fmla="val 18000"/>
            </a:avLst>
          </a:prstGeom>
          <a:solidFill>
            <a:srgbClr val="D8A24A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1431" y="3739896"/>
            <a:ext cx="75938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CF9F4"/>
                </a:solidFill>
                <a:latin typeface="Fraunces"/>
              </a:rPr>
              <a:t>GALLERY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seam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2694" y="3447287"/>
            <a:ext cx="2733790" cy="1051560"/>
          </a:xfrm>
          <a:prstGeom prst="roundRect">
            <a:avLst>
              <a:gd name="adj" fmla="val 18000"/>
            </a:avLst>
          </a:prstGeom>
          <a:solidFill>
            <a:srgbClr val="B5654A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2694" y="3739896"/>
            <a:ext cx="2733790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CF9F4"/>
                </a:solidFill>
                <a:latin typeface="Fraunces"/>
              </a:rPr>
              <a:t>CURATED FOOD HALL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destination anchor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8988" y="3447287"/>
            <a:ext cx="759386" cy="1051560"/>
          </a:xfrm>
          <a:prstGeom prst="roundRect">
            <a:avLst>
              <a:gd name="adj" fmla="val 18000"/>
            </a:avLst>
          </a:prstGeom>
          <a:solidFill>
            <a:srgbClr val="D8A24A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8988" y="3739896"/>
            <a:ext cx="75938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CF9F4"/>
                </a:solidFill>
                <a:latin typeface="Fraunces"/>
              </a:rPr>
              <a:t>GALLERY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seam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0877" y="3447287"/>
            <a:ext cx="2126281" cy="1051560"/>
          </a:xfrm>
          <a:prstGeom prst="roundRect">
            <a:avLst>
              <a:gd name="adj" fmla="val 18000"/>
            </a:avLst>
          </a:prstGeom>
          <a:solidFill>
            <a:srgbClr val="7E8F6A"/>
          </a:solidFill>
          <a:ln w="12700">
            <a:solidFill>
              <a:srgbClr val="2C2A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0877" y="3739896"/>
            <a:ext cx="2126281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CF9F4"/>
                </a:solidFill>
                <a:latin typeface="Fraunces"/>
              </a:rPr>
              <a:t>MEMBERS' CLUB</a:t>
            </a:r>
          </a:p>
          <a:p>
            <a:pPr algn="ctr"/>
            <a:r>
              <a:rPr sz="850" b="0" i="1">
                <a:solidFill>
                  <a:srgbClr val="F3EBE1"/>
                </a:solidFill>
                <a:latin typeface="Archivo"/>
              </a:rPr>
              <a:t>members lounge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285231"/>
            <a:ext cx="6035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SHELL · CONSTANT, INCOME-OPTIMISED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532119"/>
            <a:ext cx="5029200" cy="292608"/>
          </a:xfrm>
          <a:prstGeom prst="rect">
            <a:avLst/>
          </a:prstGeom>
          <a:solidFill>
            <a:srgbClr val="0A4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42432" y="5532119"/>
            <a:ext cx="960120" cy="292608"/>
          </a:xfrm>
          <a:prstGeom prst="rect">
            <a:avLst/>
          </a:prstGeom>
          <a:solidFill>
            <a:srgbClr val="9C8E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559551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 spc="150">
                <a:solidFill>
                  <a:srgbClr val="FCF9F4"/>
                </a:solidFill>
                <a:latin typeface="Archivo"/>
              </a:rPr>
              <a:t>STEEL-LED SHELL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5559551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 spc="100">
                <a:solidFill>
                  <a:srgbClr val="FCF9F4"/>
                </a:solidFill>
                <a:latin typeface="Archivo"/>
              </a:rPr>
              <a:t>FIT-OUT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88736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655D"/>
                </a:solidFill>
                <a:latin typeface="Archivo"/>
              </a:rPr>
              <a:t>The same steel portal shell and lightweight envelope as Al Ain. The usufruct is cleared by income, so the envelope stays cheap and fast in both cities.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5285231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0F6E70"/>
                </a:solidFill>
                <a:latin typeface="Archivo"/>
              </a:rPr>
              <a:t>THE ONLY TILT · MINOR, TENANT-LED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5532119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655D"/>
                </a:solidFill>
                <a:latin typeface="Archivo"/>
              </a:rPr>
              <a:t>Fit-out concentrates on the members' club and food hall, where rent and membership pay for it. The wellness pavilion spends on MEP. The lever is tenant selection.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ONE BLUEPRINT, THREE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What holds,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and what is re-run.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The constants travel. The levers are re-run from each city's data, and the concept follows. Same typology, three different answers.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926080"/>
          <a:ext cx="10744200" cy="33649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2788920"/>
                <a:gridCol w="2788920"/>
                <a:gridCol w="27889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LEVER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SHARJAH · AL RAHMANIYA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AL AIN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 spc="160">
                          <a:solidFill>
                            <a:srgbClr val="0F6E70"/>
                          </a:solidFill>
                          <a:latin typeface="Archivo"/>
                        </a:rPr>
                        <a:t>ABU DHABI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Tenure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Musataha, income led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Musataha, income led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Musataha, income led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Macro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Community retail under-built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Community retail under-built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Community retail under-built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Catchment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~48K Emirati villa, Y5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~987K region, ~31% National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Capital wealth &amp; culture spine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Whitespace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F&amp;B, gym, grocer, wellness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Fine dining, gym + longevity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Social club, food hall, longevity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Concept anchor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Market hall + wellness hangar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Fine-dining hall + wellness hangar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Social &amp; wellness house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Shell (constant)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Steel-led, income-optimised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Steel-led, income-optimised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Steel-led, income-optimised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A4E50"/>
                          </a:solidFill>
                          <a:latin typeface="Archivo"/>
                        </a:rPr>
                        <a:t>Fit-out tilt (minor)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Standard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To the fine-dining hall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C2A27"/>
                          </a:solidFill>
                          <a:latin typeface="Archivo"/>
                        </a:rPr>
                        <a:t>To the club and food hall</a:t>
                      </a:r>
                    </a:p>
                  </a:txBody>
                  <a:tcPr marL="73152" marR="45720" marT="27432" marB="27432" anchor="ctr">
                    <a:solidFill>
                      <a:srgbClr val="F3EBE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828800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 spc="100">
                <a:solidFill>
                  <a:srgbClr val="7FC9CB"/>
                </a:solidFill>
                <a:latin typeface="Fraunces"/>
              </a:rPr>
              <a:t>For Board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8600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7FC9CB"/>
                </a:solidFill>
                <a:latin typeface="Archivo"/>
              </a:rPr>
              <a:t>AFHAD PROPERTIES ·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51760"/>
            <a:ext cx="1076523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400" b="1" i="0">
                <a:solidFill>
                  <a:srgbClr val="FCF9F4"/>
                </a:solidFill>
                <a:latin typeface="Fraunces"/>
              </a:rPr>
              <a:t>The Ranch</a:t>
            </a:r>
          </a:p>
          <a:p>
            <a:pPr algn="l">
              <a:lnSpc>
                <a:spcPct val="95000"/>
              </a:lnSpc>
            </a:pPr>
            <a:r>
              <a:rPr sz="3500" b="0" i="1">
                <a:solidFill>
                  <a:srgbClr val="7FC9CB"/>
                </a:solidFill>
                <a:latin typeface="Fraunces"/>
              </a:rPr>
              <a:t>Al Ain &amp; Abu Dhabi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297680"/>
            <a:ext cx="5016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FC9CB"/>
                </a:solidFill>
                <a:latin typeface="Fraunces"/>
              </a:rPr>
              <a:t>Al 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572000"/>
            <a:ext cx="4925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CFE3E3"/>
                </a:solidFill>
                <a:latin typeface="Archivo"/>
              </a:rPr>
              <a:t>Fine-dining market hall and a world-class wellness hangar, integrating longevity and recovery, for the Emirati heartland. Mandate verified by an acute dining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4297680"/>
            <a:ext cx="5016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FC9CB"/>
                </a:solidFill>
                <a:latin typeface="Fraunces"/>
              </a:rPr>
              <a:t>Abu Dhabi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4572000"/>
            <a:ext cx="4925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CFE3E3"/>
                </a:solidFill>
                <a:latin typeface="Archivo"/>
              </a:rPr>
              <a:t>A social and wellness house, members' club, curated food hall and longevity pavilion, on the capital's wealth and culture spine. The gaps the city leaves to Dubai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321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FCFD0"/>
                </a:solidFill>
                <a:latin typeface="Archivo"/>
              </a:rPr>
              <a:t>Both on the same industrial-village typology and Musataha logic. Next step: site selection and plot-specific massing per city, then catchment isochrones on the confirmed parcels.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FA9AB"/>
                </a:solidFill>
                <a:latin typeface="Archivo"/>
              </a:rPr>
              <a:t>AFHAD 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2E6E70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FA9AB"/>
                </a:solidFill>
                <a:latin typeface="Archiv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380">
                <a:solidFill>
                  <a:srgbClr val="0F6E70"/>
                </a:solidFill>
                <a:latin typeface="Archivo"/>
              </a:rPr>
              <a:t>APPENDIX ·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523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000" b="1" i="0">
                <a:solidFill>
                  <a:srgbClr val="0A4E50"/>
                </a:solidFill>
                <a:latin typeface="Fraunces"/>
              </a:rPr>
              <a:t>Sources and citations,</a:t>
            </a:r>
          </a:p>
          <a:p>
            <a:pPr algn="l">
              <a:lnSpc>
                <a:spcPct val="95000"/>
              </a:lnSpc>
            </a:pPr>
            <a:r>
              <a:rPr sz="3300" b="0" i="1">
                <a:solidFill>
                  <a:srgbClr val="3E9CA0"/>
                </a:solidFill>
                <a:latin typeface="Fraunces"/>
              </a:rPr>
              <a:t>for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55D"/>
                </a:solidFill>
                <a:latin typeface="Archivo"/>
              </a:rPr>
              <a:t>Every figure on the preceding slides is drawn from the sources below. Data is dated 2024 to 2026 unless stated.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50749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 spc="180">
                <a:solidFill>
                  <a:srgbClr val="0F6E70"/>
                </a:solidFill>
                <a:latin typeface="Archivo"/>
              </a:rPr>
              <a:t>OFFICIAL STATISTICS &amp; GOVERNMENT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Statistics Centre Abu Dhabi (SCAD).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2024. Population estimates, Abu Dhabi Emirate and Al Ain Region. scad.gov.ae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Department of Health, Abu Dhabi (DoH).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2024 to 2025. HLMC licensing; ABA guidelines; births and IVF data. doh.gov.ae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Department of Culture and Tourism (DCT).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 to 2026. Tourism Strategy 2030; 2025 Annual Report; Al Ain data. dctabudhabi.ae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Abu Dhabi Media Office.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2024 to 2025. Al Ain tourism and development announcements.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Abu Dhabi Sports Council.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2025. Physical activity participation rate.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Abu Dhabi Real Estate Centre (ADREC).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2025. Abu Dhabi Real Estate Market Report 2025.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Zayed Higher Organization (ZHO).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2024. Autism services enrolment. zho.gov.ae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World Bank.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2023. Fertility rate, total, UAE. data.worldbank.org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900" b="1" i="0" spc="180">
                <a:solidFill>
                  <a:srgbClr val="0F6E70"/>
                </a:solidFill>
                <a:latin typeface="Archivo"/>
              </a:rPr>
              <a:t>REAL ESTATE &amp; RETAIL RESEARCH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Cavendish Maxwell.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Q3 2025. Abu Dhabi Residential Market Report.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CBRE.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Q2 to Q4 2025. UAE Real Estate Market Review.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JLL.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Q2 2025 to Q1 2026. UAE Retail and Living Market Dynamics.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UBS Global Research.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22 April 2026. MENA Real Estate.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Aldar Properties.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2026. Q4 FY2025 results and investor materials. aldar.com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Urban Planning Council.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2016. Plan Al Ain 2030 (retail-density target).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2788920"/>
            <a:ext cx="50749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 spc="180">
                <a:solidFill>
                  <a:srgbClr val="0F6E70"/>
                </a:solidFill>
                <a:latin typeface="Archivo"/>
              </a:rPr>
              <a:t>HEALTH, WEALTH &amp; SPORT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M42.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2025. Omics Centre and Emirati Genome Programme. m42.ae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Cleveland Clinic Abu Dhabi.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2025. International patient volumes.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Abu Dhabi Global Market (ADGM).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2026. Decade performance update. adgm.com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Henley &amp; Partners.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2025. Private Wealth Migration Report. henleyglobal.com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Euromonitor International.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2024. UAE household and consumer data.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900" b="1" i="0" spc="180">
                <a:solidFill>
                  <a:srgbClr val="0F6E70"/>
                </a:solidFill>
                <a:latin typeface="Archivo"/>
              </a:rPr>
              <a:t>TOURISM, CULTURE &amp; F&amp;B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MICHELIN Guide.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2026. Abu Dhabi and Dubai selections. guide.michelin.com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Louvre Abu Dhabi.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2025. Visitor figures. louvreabudhabi.ae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Abu Dhabi Chamber.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2024 to 2026. F&amp;B licences and sector revenue.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Time Out.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 to 2026. Time Out Market Abu Dhabi; market guides.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900" b="1" i="0" spc="180">
                <a:solidFill>
                  <a:srgbClr val="0F6E70"/>
                </a:solidFill>
                <a:latin typeface="Archivo"/>
              </a:rPr>
              <a:t>PROPERTY PORTALS &amp; PRESS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Bayut.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2025. Al Ain area guides and asking prices. bayut.com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Property Finder.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2025. Abu Dhabi community and project data.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Gold's Gym UAE; GymNation.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2026. Facility information.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2C2A27"/>
                </a:solidFill>
                <a:latin typeface="Archivo"/>
              </a:rPr>
              <a:t>The National; Gulf News; Khaleej Times; Arabian Post; Gulf Business. </a:t>
            </a:r>
            <a:r>
              <a:rPr sz="900" b="0" i="0">
                <a:solidFill>
                  <a:srgbClr val="2C2A27"/>
                </a:solidFill>
                <a:latin typeface="Archivo"/>
              </a:rPr>
              <a:t>2023 to 2026.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43600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9C8E7A"/>
                </a:solidFill>
                <a:latin typeface="Archivo"/>
              </a:rPr>
              <a:t>Items flagged on-slide as estimates or triangulated (Al Ain fine-dining venue counts, retail per-capita ratios, autism prevalence) should be confirmed against the primary source before capital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364224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AFHAD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63642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C9BDAC"/>
                </a:solidFill>
                <a:latin typeface="Archivo"/>
              </a:rPr>
              <a:t>THE RANCH  |  EXPANSION BRIEFS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64224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60">
                <a:solidFill>
                  <a:srgbClr val="6B655D"/>
                </a:solidFill>
                <a:latin typeface="Archivo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